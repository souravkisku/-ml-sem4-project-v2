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Diabetic (500)</c:v>
                </c:pt>
                <c:pt idx="1">
                  <c:v>Diabetic (268)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Pregnancies</c:v>
                  </c:pt>
                  <c:pt idx="4">
                    <c:v>DPF</c:v>
                  </c:pt>
                  <c:pt idx="5">
                    <c:v>Insulin</c:v>
                  </c:pt>
                  <c:pt idx="6">
                    <c:v>SkinThick</c:v>
                  </c:pt>
                  <c:pt idx="7">
                    <c:v>BP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0.47</c:v>
                </c:pt>
                <c:pt idx="1">
                  <c:v>0.29</c:v>
                </c:pt>
                <c:pt idx="2">
                  <c:v>0.24</c:v>
                </c:pt>
                <c:pt idx="3">
                  <c:v>0.22</c:v>
                </c:pt>
                <c:pt idx="4">
                  <c:v>0.17</c:v>
                </c:pt>
                <c:pt idx="5">
                  <c:v>0.13</c:v>
                </c:pt>
                <c:pt idx="6">
                  <c:v>0.08</c:v>
                </c:pt>
                <c:pt idx="7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DPF</c:v>
                  </c:pt>
                  <c:pt idx="1">
                    <c:v>Insulin</c:v>
                  </c:pt>
                  <c:pt idx="2">
                    <c:v>BloodPressure</c:v>
                  </c:pt>
                  <c:pt idx="3">
                    <c:v>Pregnancies</c:v>
                  </c:pt>
                  <c:pt idx="4">
                    <c:v>Glucose</c:v>
                  </c:pt>
                  <c:pt idx="5">
                    <c:v>BMI</c:v>
                  </c:pt>
                  <c:pt idx="6">
                    <c:v>SkinThickness</c:v>
                  </c:pt>
                  <c:pt idx="7">
                    <c:v>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</c:v>
                </c:pt>
                <c:pt idx="1">
                  <c:v>28</c:v>
                </c:pt>
                <c:pt idx="2">
                  <c:v>15</c:v>
                </c:pt>
                <c:pt idx="3">
                  <c:v>9</c:v>
                </c:pt>
                <c:pt idx="4">
                  <c:v>5</c:v>
                </c:pt>
                <c:pt idx="5">
                  <c:v>3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SMOTE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Not Diabetic</c:v>
                  </c:pt>
                  <c:pt idx="1">
                    <c:v>Diabetic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SMOTE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Not Diabetic</c:v>
                  </c:pt>
                  <c:pt idx="1">
                    <c:v>Diabetic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</c:v>
                </c:pt>
                <c:pt idx="1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 %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</c:v>
                </c:pt>
                <c:pt idx="1">
                  <c:v>42</c:v>
                </c:pt>
                <c:pt idx="2">
                  <c:v>55</c:v>
                </c:pt>
                <c:pt idx="3">
                  <c:v>66</c:v>
                </c:pt>
                <c:pt idx="4">
                  <c:v>76</c:v>
                </c:pt>
                <c:pt idx="5">
                  <c:v>85</c:v>
                </c:pt>
                <c:pt idx="6">
                  <c:v>93</c:v>
                </c:pt>
                <c:pt idx="7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Gradient 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77.27</c:v>
                </c:pt>
                <c:pt idx="1">
                  <c:v>76.62</c:v>
                </c:pt>
                <c:pt idx="2">
                  <c:v>78.57</c:v>
                </c:pt>
                <c:pt idx="3">
                  <c:v>77.92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Gradient Boost (AUC=0.84)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20%</c:v>
                  </c:pt>
                  <c:pt idx="2">
                    <c:v>40%</c:v>
                  </c:pt>
                  <c:pt idx="3">
                    <c:v>60%</c:v>
                  </c:pt>
                  <c:pt idx="4">
                    <c:v>80%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18</c:v>
                </c:pt>
                <c:pt idx="2">
                  <c:v>40</c:v>
                </c:pt>
                <c:pt idx="3">
                  <c:v>65</c:v>
                </c:pt>
                <c:pt idx="4">
                  <c:v>85</c:v>
                </c:pt>
                <c:pt idx="5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(AUC=0.83)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20%</c:v>
                  </c:pt>
                  <c:pt idx="2">
                    <c:v>40%</c:v>
                  </c:pt>
                  <c:pt idx="3">
                    <c:v>60%</c:v>
                  </c:pt>
                  <c:pt idx="4">
                    <c:v>80%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16</c:v>
                </c:pt>
                <c:pt idx="2">
                  <c:v>38</c:v>
                </c:pt>
                <c:pt idx="3">
                  <c:v>62</c:v>
                </c:pt>
                <c:pt idx="4">
                  <c:v>83</c:v>
                </c:pt>
                <c:pt idx="5">
                  <c:v>100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Logistic Reg (AUC=0.82)</c:v>
                </c:pt>
              </c:strCache>
            </c:strRef>
          </c:tx>
          <c:spPr>
            <a:solidFill>
              <a:srgbClr val="F97316"/>
            </a:solidFill>
            <a:ln w="3175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20%</c:v>
                  </c:pt>
                  <c:pt idx="2">
                    <c:v>40%</c:v>
                  </c:pt>
                  <c:pt idx="3">
                    <c:v>60%</c:v>
                  </c:pt>
                  <c:pt idx="4">
                    <c:v>80%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14</c:v>
                </c:pt>
                <c:pt idx="2">
                  <c:v>35</c:v>
                </c:pt>
                <c:pt idx="3">
                  <c:v>58</c:v>
                </c:pt>
                <c:pt idx="4">
                  <c:v>80</c:v>
                </c:pt>
                <c:pt idx="5">
                  <c:v>100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CBD5E1"/>
            </a:solidFill>
            <a:ln w="3175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20%</c:v>
                  </c:pt>
                  <c:pt idx="2">
                    <c:v>40%</c:v>
                  </c:pt>
                  <c:pt idx="3">
                    <c:v>60%</c:v>
                  </c:pt>
                  <c:pt idx="4">
                    <c:v>80%</c:v>
                  </c:pt>
                  <c:pt idx="5">
                    <c:v>100%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Tuning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Gradient 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77.27</c:v>
                </c:pt>
                <c:pt idx="1">
                  <c:v>76.62</c:v>
                </c:pt>
                <c:pt idx="2">
                  <c:v>78.57</c:v>
                </c:pt>
                <c:pt idx="3">
                  <c:v>77.92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Tuning + SMOTE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Gradient 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78.57</c:v>
                </c:pt>
                <c:pt idx="1">
                  <c:v>79.22</c:v>
                </c:pt>
                <c:pt idx="2">
                  <c:v>78.57</c:v>
                </c:pt>
                <c:pt idx="3">
                  <c:v>80.52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DPF</c:v>
                  </c:pt>
                  <c:pt idx="4">
                    <c:v>Pregnancies</c:v>
                  </c:pt>
                  <c:pt idx="5">
                    <c:v>Insulin</c:v>
                  </c:pt>
                  <c:pt idx="6">
                    <c:v>BP</c:v>
                  </c:pt>
                  <c:pt idx="7">
                    <c:v>Skin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0.27</c:v>
                </c:pt>
                <c:pt idx="1">
                  <c:v>0.18</c:v>
                </c:pt>
                <c:pt idx="2">
                  <c:v>0.14</c:v>
                </c:pt>
                <c:pt idx="3">
                  <c:v>0.11</c:v>
                </c:pt>
                <c:pt idx="4">
                  <c:v>0.09</c:v>
                </c:pt>
                <c:pt idx="5">
                  <c:v>0.08</c:v>
                </c:pt>
                <c:pt idx="6">
                  <c:v>0.07</c:v>
                </c:pt>
                <c:pt idx="7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4389120" cy="438912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2926080" cy="292608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CLASSIFICATION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 Algorithms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pipeline: EDA · Preprocessing · SMOTE · Dimensionality Reduction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ML Models · GridSearchCV Tuning · Streamlit + Flask Deployment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2057400" cy="384048"/>
          </a:xfrm>
          <a:prstGeom prst="roundRect">
            <a:avLst>
              <a:gd name="adj" fmla="val 214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0749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Dataset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53512" y="5074920"/>
            <a:ext cx="1362456" cy="384048"/>
          </a:xfrm>
          <a:prstGeom prst="roundRect">
            <a:avLst>
              <a:gd name="adj" fmla="val 214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507492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5074920"/>
            <a:ext cx="754380" cy="384048"/>
          </a:xfrm>
          <a:prstGeom prst="roundRect">
            <a:avLst>
              <a:gd name="adj" fmla="val 214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5074920"/>
            <a:ext cx="75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9532" y="5074920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99532" y="507492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LDA · t-SNE · UMAP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68996" y="5074920"/>
            <a:ext cx="1796796" cy="384048"/>
          </a:xfrm>
          <a:prstGeom prst="roundRect">
            <a:avLst>
              <a:gd name="adj" fmla="val 214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968996" y="5074920"/>
            <a:ext cx="1796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Flask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[Your Name]  ·  [University Name]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mellitus affects over 537 million adults globally. This project builds a complete machine learning pipeline to predict diabetes from clinical measurements — from raw data to a deployed web application.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295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feature distributions, class balance, zero values, and correlations.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38928" y="2295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zeros, detect &amp; remove outliers using IQR, and apply feature scaling.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66176" y="21488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97696" y="2295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(SMOTE)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49056" y="27432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minority samples to fix the 65:35 class imbalance.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PCA, LDA, t-SNE and UMAP for compression and 2D visualization.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7408" y="3749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38928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90288" y="43434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classifiers and tune hyperparameters via GridSearchCV + 5-fold CV.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66176" y="3749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97696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49056" y="43434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Streamlit web app and a Flask REST API.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Pima Indians Diabetes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04825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141732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2121408" y="14813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21408" y="204825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94176" y="141732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694176" y="14813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94176" y="204825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(Binary)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66944" y="141732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266944" y="148132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65:35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66944" y="204825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7040880" cy="352044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35661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times pregnant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glucose concentration (2-hr OGTT)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blood pressure (mm Hg)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Triceps skinfold thickness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2-hour serum insulin (mu U/ml)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 (weight kg / height 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risk / family history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←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Diabetic   |   0 = Not Diabetic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818120" y="2743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818120" y="3063240"/>
          <a:ext cx="3794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5"/>
          <p:cNvSpPr/>
          <p:nvPr/>
        </p:nvSpPr>
        <p:spPr>
          <a:xfrm>
            <a:off x="7818120" y="55778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001000" y="56509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/ Kaggle · Female Pima Indian patients, age 21+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 Before Modelling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modelling, we explore class balance, feature correlations, zero-value counts, and distributions to guide preprocessing decisions.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biologically invalid zero values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['Glucose','BloodPressure',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'SkinThickness','Insulin','BMI']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print(df[cols].eq(0).sum())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 distribution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df['Outcome'].value_counts()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sns.countplot(x='Outcome', data=df)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distributions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df.hist(figsize=(12,10), bins=20,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color='steelblue')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heatmap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sns.heatmap(df.corr(), annot=True,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cmap='coolwarm')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Outcome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63640" y="25146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5047488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51389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Glucose is the strongest predictor (r=0.47) · Insulin &amp; SkinThickness have many zeros (hidden missing) · Dataset is imbalanced (65 : 35)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Hidden Missing Values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contain biological impossible zeros (e.g. Glucose = 0, BMI = 0). These are treated as missing data and replaced with the column mean.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 that cannot validly be 0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['Glucose','BloodPressure',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'SkinThickness','Insulin','BMI']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 — replace zeros with NaN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df[cols] = df[cols].replace(0, np.nan)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print('Missing values:\n', df.isnull().sum())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— fill NaN with column mean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df[cols] = df[cols].fillna(df[cols].mean())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— should all be 0 now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Counts Before Imputation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42032"/>
          <a:ext cx="5486400" cy="2103120"/>
        </p:xfrm>
        <a:graphic>
          <a:graphicData uri="http://schemas.openxmlformats.org/drawingml/2006/table">
            <a:tbl>
              <a:tblPr/>
              <a:tblGrid>
                <a:gridCol w="1920240"/>
                <a:gridCol w="1234440"/>
                <a:gridCol w="123444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48006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493776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mean imputation?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 preserves sample size and overall distribution. It is suitable for clinical numeric features with moderate skew, avoiding loss of ~50% of rows (Insulin). Always fit on training data only to prevent data leakage.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&amp; Removal — IQR Method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method is used because clinical features like Insulin are heavily right-skewed (non-normal), making the Z-score method unreliable. Any value outside [Q1−1.5×IQR, Q3+1.5×IQR] is removed.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detect_outliers_iqr(data, feature):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  = data[feature].quantile(0.25)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Q3  = data[feature].quantile(0.75)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IQR = Q3 - Q1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 = Q1 - 1.5 * IQR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 = Q3 + 1.5 * IQR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outliers = data[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(data[feature] &lt; lower) |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(data[feature] &gt; upper)]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outliers, lower, upper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outliers from all features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df.copy()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features: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 = df_clean[f].quantile(0.25)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Q3 = df_clean[f].quantile(0.75)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IQR = Q3 - Q1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df_clean = df_clean[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(df_clean[f] &gt;= Q1 - 1.5*IQR) &amp;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(df_clean[f] &lt;= Q3 + 1.5*IQR)]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df_clean.reset_index(drop=True)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 Per Feature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63640" y="2542032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53218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53766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768 rows  →  ~600 rows after outlier removal · Cleaner distribution, less noise for models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CLASS BALANCING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— Synthetic Minority Oversampling Technique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65% Not Diabetic vs 35% Diabetic, causing models to be biased toward the majority class and miss diabetic patients. SMOTE creates synthetic minority samples via interpolation.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SMOTE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SMOTE on training data only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smote = SMOTE(random_state=42)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smote.fit_resample(X, y)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print('Before:', pd.Series(y).value_counts())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print('After: ', pd.Series(y_res).value_counts())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Train/test split on balanced data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X_res, y_res,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test_size=0.2,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stratify=y_res,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random_state=42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Interpolation Formula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46520" y="2633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= x_i + λ × (x_nn − x_i),    λ ∈ [0, 1]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x_i = minority sample   ·   x_nn = random nearest neighbour   ·   λ = random scalar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Before vs After SMOTE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63640" y="3913632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FEATURE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Standardizing Features with StandardScaler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exist on vastly different scales (Glucose: 0–200, DiabetesPedigreeFunction: 0–2.5). StandardScaler transforms each feature to zero mean and unit variance — essential for SVM, PCA and t-SNE.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fit_transform on TRAINING data only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scaler.fit_transform(X_train)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 (no fit) on TEST data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scaler.transform(X_test)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scaler for deployment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open('scaler.pkl','wb') as f: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pickle.dump(scaler, f)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print('Scaling done ✅')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3042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Formula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− μ) / σ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46520" y="3200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original value   ·   μ = feature mean   ·   σ = standard deviation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794760"/>
            <a:ext cx="5486400" cy="2487168"/>
          </a:xfrm>
          <a:prstGeom prst="roundRect">
            <a:avLst>
              <a:gd name="adj" fmla="val 2941"/>
            </a:avLst>
          </a:prstGeom>
          <a:solidFill>
            <a:srgbClr val="0B3D3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Golden Rule — Avoid Data Leakage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407408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fit_transform(X_train)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fit_transform(X_test)  ← WRONG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scaler on test data leaks statistics from the future, inflating accuracy scores. Always fit only on training data, then transform test data using the same fitted scaler.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DIMENSIONALITY REDUCTION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(PCA)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an unsupervised linear technique that projects the 8 scaled features onto new orthogonal axes (principal components) ordered by variance explained. We keep enough components to retain 95% of total variance.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how many components explain 95%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pca_check = PCA()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pca_check.fit(X_train)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cumvar = np.cumsum(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pca_check.explained_variance_ratio_)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PCA keeping 95% variance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PCA(n_components=0.95)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X_train_pca = pca.fit_transform(X_train)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X_test_pca  = pca.transform(X_test)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print(f'Components kept: {pca.n_components_}')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typically 6–7 out of 8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Explained Variance vs Components</a:t>
            </a:r>
            <a:endParaRPr lang="en-US" sz="13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63640" y="2542032"/>
          <a:ext cx="5486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95% threshold: ~7 components retained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544068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46520" y="554126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C = (1/n−1) XᵀX  — PCA components are eigenvectors of the covariance matrix C, ordered by eigenvalue magnitude.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DIMENSIONALITY REDUCTION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 · t-SNE · UMAP — Advanced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techniques complement PCA: LDA (supervised, best for ML), t-SNE (best 2D visualization), and UMAP (fast non-linear, supports new-data transform).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31720"/>
            <a:ext cx="3346704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Discriminant Analysis  |  Supervised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108960"/>
            <a:ext cx="3346704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218688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 = LDA(n_components=1)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X_train_lda = lda.fit_transform(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X_test_lda = lda.transform(X_test)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43484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J(w) = wᵀS_Bw / wᵀS_Ww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4828032"/>
            <a:ext cx="3346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1 component. Maximizes class separation. Best for ML training.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272" y="21488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31720"/>
            <a:ext cx="3346704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2377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t-distributed Stochastic Neighbor Embedding  |  Non-linear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346704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3218688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tsne = TSNE(n_components=2,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perplexity=30, random_state=42)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X_tsne = tsne.fit_transform(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43484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KL(P ∥ Q)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4828032"/>
            <a:ext cx="3346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ONLY — no transform() for new data. Preserves local neighbourhoods.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75904" y="21488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77072" y="2331720"/>
            <a:ext cx="3346704" cy="658368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695944" y="2377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
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Manifold Approximation &amp; Projection  |  Non-linear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77072" y="3108960"/>
            <a:ext cx="3346704" cy="120700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41664" y="3218688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umap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reducer = umap.UMAP(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n_components=2, random_state=42)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X_umap = reducer.fit_transform(X_train)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77072" y="443484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preserves local + global structure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77072" y="4828032"/>
            <a:ext cx="3346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transform() on new data. Fastest non-linear. Usable for ML training.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155680" cy="365760"/>
          </a:xfrm>
          <a:prstGeom prst="roundRect">
            <a:avLst>
              <a:gd name="adj" fmla="val 15000"/>
            </a:avLst>
          </a:prstGeom>
          <a:solidFill>
            <a:srgbClr val="0B3D3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 ML training: PCA · LDA · UMAP    |    🔬 Visualization only: t-SNE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MODEL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Machine Learning Classifiers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supervised classifiers covering linear, ensemble, kernel, and boosting approaches are trained and compared to identify the best predictor for diabetes outcome.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267004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Baseline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3026664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diabetes probability using the sigmoid function applied to a linear combination of features. Fast, interpretable, provides coefficient-level feature insight.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49808" y="395020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P(y=1) = 1 / (1 + e^(−wᵀx))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68312" y="227685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68312" y="267004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· Tree-based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3026664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N decision trees on random feature and data subsets. Final prediction = majority vote. Reduces overfitting and provides Gini-based feature importance scores.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446520" y="3950208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majority_vote(Tree₁, Tree₂, ..., Treeₙ)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45811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371600" y="497433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· Margin-based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5330952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hyperplane with maximum margin between classes. RBF kernel maps data to higher dimensions, enabling non-linear class boundaries in feature space.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49808" y="62544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 ½||w||² s.t. yᵢ(wᵀxᵢ + b) ≥ 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45352" y="4453128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68312" y="45811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068312" y="497433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068312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· Sequential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5330952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where each tree corrects the residual errors of the previous one. Combines weak learners into a powerful ensemble. Best performer on tabular data.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446520" y="62544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F_m(x) = F_{m-1}(x) + η · h_m(x)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MODEL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All Four Models — Full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5120640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35608"/>
            <a:ext cx="5157216" cy="4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(RandomForestClassifier,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GradientBoostingClassifier)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sklearn.svm import SVC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Logistic Regression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LogisticRegression(random_state=42)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lr_pred = lr.predict(X_test)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print('LR:', accuracy_score(y_test, lr_pred))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Random Forest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rf_pred = rf.predict(X_test)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Support Vector Machine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= SVC(kernel='rbf', random_state=42,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probability=True)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svm.fit(X_train, y_train)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svm_pred = svm.predict(X_test)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Gradient Boosting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 = GradientBoostingClassifier(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 random_state=42)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gb.fit(X_train, y_train)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gb_pred = gb.predict(X_test)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325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 (Before Tuning)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263640" y="1719072"/>
          <a:ext cx="5486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Workflow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4498848"/>
            <a:ext cx="1005840" cy="713232"/>
          </a:xfrm>
          <a:prstGeom prst="roundRect">
            <a:avLst>
              <a:gd name="adj" fmla="val 8974"/>
            </a:avLst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44988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69480" y="4498848"/>
            <a:ext cx="109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33488" y="4498848"/>
            <a:ext cx="1005840" cy="713232"/>
          </a:xfrm>
          <a:prstGeom prst="roundRect">
            <a:avLst>
              <a:gd name="adj" fmla="val 8974"/>
            </a:avLst>
          </a:prstGeom>
          <a:solidFill>
            <a:srgbClr val="0F766E"/>
          </a:solidFill>
          <a:ln/>
        </p:spPr>
      </p:sp>
      <p:sp>
        <p:nvSpPr>
          <p:cNvPr id="13" name="Text 10"/>
          <p:cNvSpPr/>
          <p:nvPr/>
        </p:nvSpPr>
        <p:spPr>
          <a:xfrm>
            <a:off x="7333488" y="44988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39328" y="4498848"/>
            <a:ext cx="109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03336" y="4498848"/>
            <a:ext cx="1005840" cy="713232"/>
          </a:xfrm>
          <a:prstGeom prst="roundRect">
            <a:avLst>
              <a:gd name="adj" fmla="val 8974"/>
            </a:avLst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8403336" y="44988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09176" y="4498848"/>
            <a:ext cx="109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473184" y="4498848"/>
            <a:ext cx="1005840" cy="713232"/>
          </a:xfrm>
          <a:prstGeom prst="roundRect">
            <a:avLst>
              <a:gd name="adj" fmla="val 8974"/>
            </a:avLst>
          </a:prstGeom>
          <a:solidFill>
            <a:srgbClr val="0F766E"/>
          </a:solidFill>
          <a:ln/>
        </p:spPr>
      </p:sp>
      <p:sp>
        <p:nvSpPr>
          <p:cNvPr id="19" name="Text 16"/>
          <p:cNvSpPr/>
          <p:nvPr/>
        </p:nvSpPr>
        <p:spPr>
          <a:xfrm>
            <a:off x="9473184" y="44988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79024" y="4498848"/>
            <a:ext cx="109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0543032" y="4498848"/>
            <a:ext cx="1005840" cy="713232"/>
          </a:xfrm>
          <a:prstGeom prst="roundRect">
            <a:avLst>
              <a:gd name="adj" fmla="val 8974"/>
            </a:avLst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10543032" y="44988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.score()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63640" y="5413248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46520" y="553212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All models trained on SMOTE-balanced, StandardScaler-scaled X_train, and evaluated on the original (unaugmented) scaled X_test to ensure unbiased performance comparison.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MODEL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Confusion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metrics are used because accuracy alone is insufficient for imbalanced medical data. Recall is the most critical metric — missing a diabetic patient (false negative) is the costliest error.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confusion_matrix, classification_report,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roc_curve, roc_auc_score)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Confusion matrix heatmap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= confusion_matrix(y_test, gb_pred)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sns.heatmap(cm, annot=True, fmt='d',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cmap='Blues', xticklabels=['No','Yes'],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yticklabels=['No','Yes'])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report: precision, recall, F1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 gb_pred,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target_names=['No Diabetes','Diabetes']))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ROC-AUC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gb.predict_proba(X_test)[:,1]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roc_auc_score(y_test, y_prob)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print(f'AUC: {auc:.4f}')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Formulas   (TP / TN / FP / FN)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46520" y="2761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(TP + TN + FP + FN)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3172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3584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⭐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  ← prioritized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995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(Precision × Recall) / (Precision + Recall)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Model Comparison (illustrative)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263640" y="4992624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HYPERPARAMETER 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with 5-Fold Cross-Validation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exhaustively tests every hyperparameter combination over a defined grid using 5-fold cross-validation, selecting the combination that maximizes mean validation accuracy.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GridSearchCV, cross_val_score)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Forest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rf_params =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'n_estimators': [100, 200, 300],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'max_depth': [3, 5, 7, None],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'min_samples_split': [2, 5, 10]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rf_grid = GridSearchCV(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RandomForestClassifier(random_state=42),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rf_params, cv=5, scoring='accuracy',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n_jobs=-1)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rf_grid.fit(X_train, y_train)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print(rf_grid.best_params_)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Gradient Boosting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gb_params =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'n_estimators': [100, 200, 300],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'learning_rate': [0.01, 0.05, 0.1],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'max_depth': [3, 4, 5]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gb_grid = GridSearchCV(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GradientBoostingClassifier(random_state=42),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gb_params, cv=5, n_jobs=-1)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gb_grid.fit(X_train, y_train)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Space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42032"/>
          <a:ext cx="5486400" cy="2852928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Searched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100, 200, 300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5, 7,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2, 5, 10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100, 200, 300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0.01, 0.05, 0.1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3, 4, 5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0.01, 0.1, 1, 10, 100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liblinear, lbfgs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5559552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0B3D3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56692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5  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combination is scored on 5 different train/val splits. The combination with the highest mean accuracy across all 5 folds wins — reducing overfitting to any single split.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RESULTS &amp;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Performance: Before vs After Tuning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89888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71232" y="1389888"/>
            <a:ext cx="4133088" cy="18288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54112" y="1536192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54112" y="192024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54112" y="2359152"/>
            <a:ext cx="3767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80.52%  ·  AUC: 0.84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↑ from ~67% → ~81% after SMOTE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71232" y="3364992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7571232" y="3703320"/>
          <a:ext cx="4133088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109960" cy="1508760"/>
        </p:xfrm>
        <a:graphic>
          <a:graphicData uri="http://schemas.openxmlformats.org/drawingml/2006/table">
            <a:tbl>
              <a:tblPr/>
              <a:tblGrid>
                <a:gridCol w="3566160"/>
                <a:gridCol w="1508760"/>
                <a:gridCol w="1508760"/>
                <a:gridCol w="1508760"/>
                <a:gridCol w="1508760"/>
                <a:gridCol w="150876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SAVE &amp; PREDICT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the Model &amp; Making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and scaler are saved using pickle so they can be loaded in deployment without retraining. A reusable prediction function wraps the full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4315968"/>
          </a:xfrm>
          <a:prstGeom prst="roundRect">
            <a:avLst>
              <a:gd name="adj" fmla="val 12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best model + scaler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open('diabetes_model.pkl','wb') as f: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pickle.dump(gb_grid.best_estimator_, f)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open('scaler.pkl','wb') as f: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pickle.dump(scaler, f)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them back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pickle.load(open('diabetes_model.pkl','rb'))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pickle.load(open('scaler.pkl','rb'))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Prediction function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predict_diabetes(preg, gluc, bp,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skin, ins, bmi, dpf, age):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 = pd.DataFrame([[preg,gluc,bp,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skin,ins,bmi,dpf,age]],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columns=['Pregnancies','Glucose',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'BloodPressure','SkinThickness',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'Insulin','BMI',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'DiabetesPedigreeFunction','Age'])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scaled = scaler.transform(inp)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model.predict(scaled)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model.predict_proba(scaled)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pred[0], prob[0][1]*100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Prediction Function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542032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2651760"/>
            <a:ext cx="515721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Patient 1 — High Risk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pred, prob = predict_diabetes(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preg=8, gluc=183, bp=64,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skin=0, ins=0, bmi=23.3,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dpf=0.672, age=32)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Diabetic 🔴  |  Prob: 74.00%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Patient 2 — Low Risk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pred, prob = predict_diabetes(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preg=1, gluc=89, bp=66,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skin=23, ins=94, bmi=28.1,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dpf=0.167, age=21)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Not Diabetic 🟢  |  Prob: 22.00%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5486400"/>
            <a:ext cx="5486400" cy="1024128"/>
          </a:xfrm>
          <a:prstGeom prst="roundRect">
            <a:avLst>
              <a:gd name="adj" fmla="val 714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559612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input data as a pandas DataFrame with the same column names used during scaler.fit_transform() to avoid the UserWarning about feature names.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App &amp; Flask REST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deployed in two forms: a browser-based Streamlit UI for human users, and a Flask REST API for programmatic access from any app or system.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Streamlit Web App  (app.py)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651760"/>
            <a:ext cx="5157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st.title('🩺 Diabetes Prediction App')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col1, col2 = st.columns(2)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col1: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glucose = st.number_input('Glucose')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bmi = st.number_input('BMI')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= st.number_input('Age')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col2: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pregnancies = st.number_input(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'Pregnancies')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insulin = st.number_input('Insulin')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more inputs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st.button('🔍 Predict'):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pred, prob = predict_diabetes(...)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pred == 1: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st.error(f'🔴 Diabetic: {prob:.1f}%')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st.success(f'🟢 Healthy: {100-prob:.1f}%')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st.bar_chart({'Diabetic':prob,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'Healthy':100-prob})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streamlit run app.py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Open: http://localhost:8501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Flask REST API  (api.py)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542032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2651760"/>
            <a:ext cx="5157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Flask, request, jsonify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flask_cors import CORS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CORS(app)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@app.route('/predict', methods=['POST'])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predict():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request.get_json()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input_df = pd.DataFrame([data],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columns=required_fields)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scaled = scaler.transform(input_df)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model.predict(scaled)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model.predict_proba(scaled)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'result': 'Diabetic' if pred[0]==1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else 'Not Diabetic',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'diabetes_prob': f'{prob[0][1]*100:.2f}%'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@app.route('/predict_batch', methods=['POST'])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predict_batch(): ...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@app.route('/health', methods=['GET'])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health(): return jsonify({'status':'ok'})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app.run(debug=True, port=5000)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6510528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patient prediction → result + 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/predict_batch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patients at once → list of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API is 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6473952"/>
            <a:ext cx="11155680" cy="292608"/>
          </a:xfrm>
          <a:prstGeom prst="roundRect">
            <a:avLst>
              <a:gd name="adj" fmla="val 18750"/>
            </a:avLst>
          </a:prstGeom>
          <a:solidFill>
            <a:srgbClr val="0B3D3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7395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→ http://localhost:8501    |    Flask API → http://localhost:5000/predict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14B8A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What's Next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9339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ML pipeline: EDA → preprocessing → outlier removal → SMOTE → scaling → dim. reduction → modelling → tuning → deployment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9748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4 models; Gradient Boosting achieved best accuracy ~80.52% and AUC ~0.84 after tuning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0156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improved diabetic-class Recall from ~67% → ~81% — critical for clinical screening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056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PCA, LDA, t-SNE and UMAP for feature compression and 2D visualization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097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Streamlit web app + Flask REST API (single &amp; batch prediction)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98424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Balancing: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ADASYN / Borderline-SMOTE for targeted oversampling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724912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model interpretability per patient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438144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3410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Flask API on Render / AWS for public access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4151376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412394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app consuming the REST API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4864608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48371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bigger, more diverse patient populations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687568"/>
            <a:ext cx="11155680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760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80.52%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9808" y="6263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80944" y="5760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980944" y="6263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5760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212080" y="6263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43216" y="5760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43216" y="6263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74352" y="5760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674352" y="6263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Using Machine Learning</dc:title>
  <dc:subject>PptxGenJS Presentation</dc:subject>
  <dc:creator>Sourav</dc:creator>
  <cp:lastModifiedBy>Sourav</cp:lastModifiedBy>
  <cp:revision>1</cp:revision>
  <dcterms:created xsi:type="dcterms:W3CDTF">2026-06-16T06:35:16Z</dcterms:created>
  <dcterms:modified xsi:type="dcterms:W3CDTF">2026-06-16T06:35:16Z</dcterms:modified>
</cp:coreProperties>
</file>